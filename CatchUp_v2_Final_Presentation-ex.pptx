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CatchUp v2를 발표하게 된 유나입니다.
CatchUp은 비정형 학습자료 — PDF, Jupyter 노트북, 이미지 — 를 자동으로 구조화하고,
개념 간 관계를 연결해주는 LLM 파이프라인입니다.
오늘 발표에서는 크게 네 가지를 중심으로 말씀드리겠습니다.
파이프라인 아키텍처, VLM 모델 비교 실험, 정량 평가 체계, 그리고 트러블슈팅 경험입니다.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[문제 정의 — 왜 만들었는가]
기존 방식: 개별 문서를 GPT에 넣으면 요약은 해주지만, 여러 문서에 걸친 개념 연결은 못 함
→ "나무만 보고 숲은 못 보는" 문제
CatchUp이 해결하는 것:
• 멀티포맷 자동 파싱 (PDF, ipynb, 이미지)
• 구조화된 학습노트 자동 생성
• RAG 기반 Q&amp;A + 출처 인용
• 개념 간 backlink 자동 연결
저는 CV 석사에서 LLM 엔지니어로 피벗하면서, VLM 기반 문서 구조화를 차별점으로 잡았습니다.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[아키텍처 — 5단계 파이프라인]
전체 흐름: 입력 → 파싱 → 구조화 → 노트 생성 → RAG Q&amp;A
• 입력: PDF, ipynb, 이미지 세 가지 포맷
• 파싱: DoclingLoader(PDF), nbformat(ipynb), VLM 2-call(이미지)
• 구조화: 블록 단위 중간 포맷 (text/code/table/figure/equation + metadata)
• 노트 생성: 섹션별 분할 후 LLM 호출
• RAG Q&amp;A: ChromaDB 임베딩 + 소스 인용
Tech Stack 핵심:
- VLM 12개 모델 비교 실험 설계 (OpenAI 5, Google 2, Anthropic 2, 오픈소스 3)
- DeepEval 4개 메트릭 + Wilcoxon 통계 검정
- Langfuse로 stage별 latency/token/비용 추적
- 테스트 287개 통과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[멀티포맷 파싱 — 차별화 포인트]
"파싱이 전체 파이프라인의 50%를 결정한다"
• PDF: DoclingLoader로 텍스트+이미지/표 분리 추출. 섹션 헤딩 구조 보존이 핵심
• ipynb: nbformat으로 코드셀/마크다운셀/output 분리. 실행 결과까지 보존
• 이미지: VLM 2-call 전략 — 1차로 이미지 타입 분류, 2차로 타입별 특화 프롬프트
세 포맷 모두 동일한 중간 포맷 스키마(Blocks + metadata)로 통일
→ 이후 노트 생성/RAG 단계에서 포맷 무관하게 처리 가능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[VLM 비교 실험 설계 — 12개 모델 × 10축]
대상 모델 12개:
- OpenAI 5개: 4o-mini, 4.1 nano/mini, 5 nano/mini (부캠 지원)
- Google 2개: Gemini 3.0 Flash, 3.1 Pro (자비 $2-3)
- Anthropic 2개: Haiku 4.5, Sonnet 4.6 (자비 $2-3)
- 오픈소스 3개: Qwen2-VL 7B, Kimi-VL-A3B, LLaVA-1.6 (RunPod GPU)
10개 비교축 중 강조할 포인트:
★ Axis 4 — Reasoning vs Non-reasoning: GPT-5 CoT가 문서 레이아웃 파싱에서 어떤 차이를 보이는지
★ Axis 9 — Dense vs MoE: Qwen2-VL 7B(Dense) vs Kimi-VL-A3B(MoE) 파라미터 효율성
★ Axis 10 — VLM×LLM 조합 효과: VLM만 바꿔도 최종 RAG 품질이 달라지는지 E2E 실험
이 실험은 현재 진행 중이고, 기존 벤치마크에 없는 비교축이라는 점이 차별점입니다.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[기존 벤치마크 공백 — CatchUp이 채운 것]
기존 VLM 벤치마크(DocVQA, OCRBench, AI2D 등)가 측정 못 하는 4가지 영역:
1. 마크다운 구문 보존력
   - 기존: 단답형 추출만 → CatchUp: 코드가 AST 파싱 가능한 마크다운인지 평가
2. 다이어그램 구조 변환
   - 기존: 객관식 VQA만 → CatchUp: JSON 트리/Mermaid 구조 생성 능력 평가
3. 한/영 혼용 IT 도메인
   - 기존: 간판/일상 문서 → CatchUp: 영어 기술자료 + 한국어 메모 혼재 환경
4. Reasoning 모델 레이아웃 이해
   - 기존: 수학 편중 → CatchUp: GPT-5 CoT vs GPT-4.1 문서 레이아웃 파싱 비교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[평가 체계 설계 — Before/After 2가지 실험]
실험 1: 구조화 파싱 (CU-09)
- Before: PyPDF 단순 추출 → 1000토큰 고정 윈도우 청킹
- After: 블록 단위 구조 파싱 + HybridChunker 500토큰
- 통제 변수: 동일한 임베딩, LLM, top-k, seed — 오직 파싱+청킹만 변수
실험 2: Query Rewriting (CU-13)
- Before: 원본 쿼리 그대로 임베딩 검색
- After: gpt-4.1-nano로 한/영 확장 후 검색
- 골든셋: 31문항 (PDF 16 + ipynb 15), 그중 한국어/구어체 서브그룹 7개
평가 지표 — DeepEval 프레임워크 사용:
- Faithfulness: 환각 제어 (명제 단위 분해)
- Context Precision: 검색된 top-k의 유효성
- Context Recall: 정답 근거의 커버리지
- Citation Accuracy: 소스 메타데이터 정확도 ← 이게 CatchUp만의 차별화 지표
통계 검정은 Wilcoxon Signed-Rank Test로 쌍체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[평가 결과 — 숫자로 보는 개선]
핵심 수치 3개:
• +76% — ipynb Precision 향상 (CatchUp-Chunked vs Baseline)
• 2.5× — Citation Accuracy (0.406 vs 0.161)
• +6.4%p — Query Rewriting subgroup 개선
실험 1 (파싱) 결과:
- PDF: Precision 0.517→0.622, Recall 0.811→0.833, Overall 0.606→0.641
- ipynb: Precision 0.366→0.643 (+76%), Citation 0.165→0.406 (2.5배)
- 블록 단위 파싱이 특히 ipynb에서 큰 효과 — 코드셀/마크다운셀 구분이 검색 정밀도에 직접 영향
실험 2 (Query Rewriting) 결과:
- 전체(n=31): vanilla 0.638 → rewrite 0.671
- Subgroup(n=7): 0.587 → 0.650 (+6.36%p)
- 다만 Wilcoxon p=0.57로 통계적 유의성은 미달
- 원인: n=31이라 검정력 부족. 한국어/구어체 쿼리 서브그룹에서는 더 뚜렷한 개선 관찰
- 정직하게 p값 공개하는 것이 오히려 신뢰도를 높인다고 판단했습니다.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[트러블슈팅 Deep Dive — 실전 엔지니어링]
Case 1: Docling 캐시 이미지 소실
- 증상: 첫 업로드 시 이미지 정상 → 새로고침하면 전부 사라짐
- 원인 추적: DoclingDocument.model_dump(json)이 PictureItem.image를 null로 직렬화
  → 캐시에서 복원할 때 get_image()가 None 반환
- 해결: _presave_figure_images() — 라이브 DoclingDocument 보유 중에 즉시 디스크 저장
  → Docling 변환 횟수도 2회에서 1회로 감소
Case 2: Figure 배치 — 3번의 반복이 핵심
- 문제: PDF에서 추출한 figure를 노트 어느 섹션에 배치할 것인가?
- v1 선형 보간: pass 15.4% — 페이지→섹션 균등 매핑, 분량 불균형 시 실패
- v2 페이지 균등: pass 23.1% — body block count 기반, 여전히 부정확
- v3 섹션헤더 경계: pass 69.2% — 문서 내 섹션 헤딩의 실제 페이지 경계로 range 계산
- LLM Judge 보완: 92.3% effective — embedding이 오판하는 케이스를 LLM이 문맥으로 보정
→ 이 과정이 "정량 평가가 반복을 이끈다"의 실증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[에지케이스 Taxonomy &amp; 방어 전략]
VLM→RAG 에러 전파 3단계 — 이게 가장 위험한 시나리오:
1. VLM이 시각적 환각 ("8.5%" → "85%")
2. 잘못된 텍스트가 임베딩 공간에서 의미 왜곡
3. RAG가 "확신에 찬 오답 + 출처까지 달아서" 사용자에게 전달
방어 전략 (추가 비용 0):
- 전처리: 데이터 캡슐화 + 면역 프롬프팅
- 후처리: URL/이미지 태그 regex 제거 + JSON 강제
- 검증: 마크다운/JSON 문법 검증 → 실패 시 텍스트 폴백
- 필터링: confidence score 기반 저신뢰 블록 경고
에지케이스 9종 중 특히:
- zip() cascade skip: 첫 쌍 불일치 → 전체 매칭 붕괴. greedy page-based matching으로 교체
- 인젝션 4유형: Typographic, Steganographic, Adversarial, Multi-modal Jailbreak 대비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[데모 — Streamlit UI]
왼쪽: 학습노트 생성 화면
- PDF/ipynb 업로드 → 자동 파싱 → 섹션별 학습노트
- figure 인라인 렌더링, 코드셀 하이라이팅
오른쪽: RAG Q&amp;A 채팅
- 사용자 질문 → query rewriting → ChromaDB 검색 → LLM 답변 + 소스 인용
- 후속 질문 추천 버튼 (NotebookLM 벤치마킹)
(여기서 라이브 데모를 보여드리겠습니다 / 스크린샷으로 대체합니다)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[회고 &amp; 향후 계획]
배운 것 — 솔직하게:
1. VLM 출력을 맹신하면 안 된다
   에러 전파 3단계를 직접 경험. 방어 체계 없으면 "정확해 보이는 오답"이 사용자에게 전달됨
2. 프롬프트 엔지니어링은 만능이 아니다
   v1.0에서 v1.5.1까지 6번 반복. 프롬프트만으로는 한계가 있고, 아키텍처 변경이 더 효과적인 경우가 많았음
3. 평가 없이는 개선 불가
   Figure 배치 v1(15%)→v3(69%)→LLM judge(92%). 정량 평가가 있었기에 반복할 수 있었음
4. 실험은 정직해야 한다
   CU-16 리사이즈 실험: golden set이 소형 이미지라 비용 차이가 거의 0. "의미 있는 결과 없음"도 결과.
   더 큰 샘플이 필요하다는 교훈
향후 계획:
- VLM 12개 모델 × 10축 비교 실험 진행 중 — 가장 큰 후속 과제
- React + FastAPI로 프로덕션 아키텍처 전환
- Cross-encoder reranker + MMR로 검색 품질 한 단계 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CatchUp v2는 비정형 학습자료를 자동으로 구조화하고, 개념 간 관계를 연결하는 파이프라인입니다.
멀티포맷 파싱, 정량 평가 기반 반복 개선, 그리고 VLM 비교 실험이라는 세 축으로 만들었습니다.
특히 "정량 평가가 반복을 이끈다"는 것을 Figure 배치 3번의 반복에서 직접 경험했습니다.
질문 받겠습니다.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oval">
            <a:avLst/>
          </a:prstGeom>
          <a:solidFill>
            <a:srgbClr val="E0F2F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oval">
            <a:avLst/>
          </a:prstGeom>
          <a:solidFill>
            <a:srgbClr val="DBEAFE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 v2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비정형 학습자료 자동 구조화 + 개념 연결 파이프라인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"공부는 네가, 연결은 CatchUp이"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2026.03.17  |  LLM 엔지니어링 부트캠프 최종 발표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만들었는가?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840480" cy="2560320"/>
          </a:xfrm>
          <a:prstGeom prst="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3840480" cy="34747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기존 방식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문서를 GPT에 던지면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요약은 해주지만...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문서의 개념을 연결해서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'숲'을 보여주진 않는다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840480" cy="2560320"/>
          </a:xfrm>
          <a:prstGeom prst="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63040"/>
            <a:ext cx="3840480" cy="347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CatchUp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0116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ipynb / 이미지 자동 파싱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구조화된 학습노트 자동 생성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기반 Q&amp;A + 소스 인용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간 자동 연결 (backlink)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석사 → LLM 엔지니어 피벗 — VLM 기반 문서 구조화로 차별화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아키텍처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417320" cy="155448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1417320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ipynb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2057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03120" y="1554480"/>
            <a:ext cx="1417320" cy="155448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03120" y="1554480"/>
            <a:ext cx="1417320" cy="54864"/>
          </a:xfrm>
          <a:prstGeom prst="rect">
            <a:avLst/>
          </a:prstGeom>
          <a:solidFill>
            <a:srgbClr val="005A8D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737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1031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DoclingLoader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nbformat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057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40480" y="1554480"/>
            <a:ext cx="1417320" cy="155448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1554480"/>
            <a:ext cx="1417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737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1031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포맷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+ Meta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2057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577840" y="1554480"/>
            <a:ext cx="1417320" cy="155448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1554480"/>
            <a:ext cx="14173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1737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 생성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21031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섹션별 분할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호출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2057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315200" y="1554480"/>
            <a:ext cx="1417320" cy="155448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0" y="1554480"/>
            <a:ext cx="14173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1737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06640" y="21031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인용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429000"/>
            <a:ext cx="8412480" cy="132588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38404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71600" y="384048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 모델 (OpenAI 5 / Google 2 / Anthropic 2 / 오픈소스 3)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0599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40599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(Faithfulness, Precision, Recall, Citation) + Wilcoxon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2793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관측성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71600" y="427939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— stage별 latency / token / 비용 추적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4498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449884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노트 열람, Q&amp;A 채팅, 개념맵  |  테스트 287개 통과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멀티포맷 파싱 — 50%의 차별화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2377440"/>
          </a:xfrm>
          <a:prstGeom prst="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06040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7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DoclingLoader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+ 이미지/표 분리 추출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 헤딩 구조 보존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→ VLM 보강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606040" cy="2377440"/>
          </a:xfrm>
          <a:prstGeom prst="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17320"/>
            <a:ext cx="26060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57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ipynb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nbformat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2402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코드셀 / 마크다운셀 / output 분리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단위 블록 메타데이터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결과 보존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606040" cy="2377440"/>
          </a:xfrm>
          <a:prstGeom prst="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417320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57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1920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(2-call)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2402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1차: 이미지 타입 분류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2차: 타입별 특화 프롬프트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5종 + 에지케이스 처리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6858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096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통일된 중간 포맷 스키마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→ Blocks (text | code | table | figure | equation) + metadata (page, cell_index, confidence)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EXPERIMENT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비교 실험 — 12개 모델 × 10축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572000" cy="329184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모델 (12개)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4206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7B6"/>
                          </a:solidFill>
                        </a:rPr>
                        <a:t>Provider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7B6"/>
                          </a:solidFill>
                        </a:rPr>
                        <a:t>Models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7B6"/>
                          </a:solidFill>
                        </a:rPr>
                        <a:t>비용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OpenAI (5)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4o-mini, 4.1 nano/mini, 5 nano/mini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</a:rPr>
                        <a:t>부캠 지원 (무료)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Google (2)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Gemini 3.0 Flash, 3.1 Pro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자비 ($2-3)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Anthropic (2)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Haiku 4.5, Sonnet 4.6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자비 ($2-3)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오픈소스 (3)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Qwen2-VL 7B, Kimi-VL-A3B, LLaVA-1.6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C3AED"/>
                          </a:solidFill>
                        </a:rPr>
                        <a:t>RunPod GPU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303520" y="1417320"/>
            <a:ext cx="3474720" cy="329184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비교축 (10축)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0" y="18745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3사 간 동일 tier 비교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저가 vs 중가 (비용 150× 차이)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상용 vs 오픈소스 트레이드오프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Reasoning vs Non-reasoning ★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세대 간 비교 (4o → 4.1 → 5)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Nano vs Mini 품질 격차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라우터 분류 precision/recall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다운사이징별 성능 변화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Dense vs MoE 파라미터 효율성 ★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VLM×LLM 파이프라인 조합 효과 ★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기존 벤치마크에 없는 비교축 — Dense vs MoE(Kimi-VL-A3B), Reasoning vs Non-reasoning, 파이프라인 E2E 효과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EXPERIMENT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벤치마크의 공백 — CatchUp이 채운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 구문 보존력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737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DocVQA/OCRBench는 단답형 정보 추출만 측정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064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AST 파싱 가능한 형태를 유지하는지 평가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86000"/>
            <a:ext cx="73152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 구조적 변환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8720" y="2606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AI2D는 객관식 VQA만 평가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606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 → JSON 트리/Mermaid 구조 생성 능력 평가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5468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한/영 혼용 IT 도메인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474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88720" y="3474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KOCRBench는 간판/일상 문서 위주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3474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0644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 기술자료 + 한국어 메모 혼재 환경 12개 모델 교차 분석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02336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069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모델 레이아웃 이해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43434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88720" y="4343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 벤치마크 편중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4343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0644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CoT vs GPT-4.1 문서 레이아웃 파싱 실증 비교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체계 설계 — Before / After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5087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508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81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1: 구조화 파싱 (CU-09)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단순 추출 → 1000토큰 윈도우 청킹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단위 구조 파싱 + HybridChunker (500토큰)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임베딩/LLM/top-k/seed — 오직 파싱+청킹만 변수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114800" cy="15087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08960"/>
            <a:ext cx="73152" cy="1508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72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2: Query Rewriting (CU-13)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4472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쿼리 그대로 임베딩 검색 (vanilla)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gpt-4.1-nano로 한/영 확장 → 검색 품질 향상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골든셋: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31문항 (PDF 16 + ipynb 15), subgroup 7개 태깅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384048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 (DeepEval)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121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제어 — 명제 단위 분해 후 컨텍스트 대조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514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top-k 블록의 유효성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31089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근거의 검색 커버리지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3703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904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메타데이터(파일명, 페이지) 정확도 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검정: Wilcoxon Signed-Rank Test (p &lt; 0.05)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결과 — 파싱 개선 + RAG 개선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+76%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향상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(ipynb Chunked vs Baseline)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060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(0.406 vs 0.161)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060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+6.4%p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(subgroup, n=7)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5120640" cy="196596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73152" cy="1965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358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1: 구조화 파싱 (PDF Round 5 + ipynb Round 1)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337560"/>
          <a:ext cx="4709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94360"/>
                <a:gridCol w="640080"/>
                <a:gridCol w="640080"/>
                <a:gridCol w="594360"/>
                <a:gridCol w="640080"/>
                <a:gridCol w="5943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파이프라인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PDF Prec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PDF Recall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PDF Overall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ipynb Prec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ipynb Citation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ipynb Overall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Baseline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0.517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0.811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0.606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0.366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0.165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0.521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CatchUp-Chunked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0.622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0.833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0.641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0.643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0.406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0.671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85800" y="4114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ipynb Precision +76% / Citation 2.5× vs Baseline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60720" y="2971800"/>
            <a:ext cx="3017520" cy="196596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60720" y="2971800"/>
            <a:ext cx="73152" cy="1965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9"/>
          <p:cNvSpPr/>
          <p:nvPr/>
        </p:nvSpPr>
        <p:spPr>
          <a:xfrm>
            <a:off x="5989320" y="3035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2: Query Rewriting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3337560"/>
          <a:ext cx="2606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77240"/>
                <a:gridCol w="8229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</a:rPr>
                        <a:t>Vanilla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Rewrite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전체 (n=31)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0.638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</a:rPr>
                        <a:t>0.671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</a:rPr>
                        <a:t>Subgroup (n=7)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0.587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0.650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5989320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+6.36%p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(한국어/구어체 쿼리)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98932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p=0.57 (n=31) — 통계적 유의성 미달, 검정력 한계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Deep Dive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Docling 캐시 이미지 소실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업로드 → 이미지 OK, 새로고침 → 이미지 전부 사라짐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DoclingDocument.model_dump(json)가 PictureItem.image를 null로 직렬화. 캐시에서 복원 시 get_image() → None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_presave_figure_images() — 라이브 DoclingDocument 보유 중 즉시 디스크 저장. Docling 변환 1회로 감소 (2회→1회)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73152" cy="3200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Figure 배치 3번의 반복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figure를 노트 어느 섹션에 배치할 것인가?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선형 보간: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15.4% — 페이지→섹션 균등 매핑, 분량 불균형 시 실패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페이지 균등: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23.1% — body block count 기반, 여전히 부정확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섹션헤더 경계: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69.2% — 문서 내 섹션 헤딩의 페이지 경계로 실제 range 계산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 보완: 92.3% effective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오판(generic 그래프 흡인) → LLM contextual 판단으로 3/4 통과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에지케이스 Taxonomy &amp; 방어 전략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92024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→ RAG 에러 전파 3단계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892808"/>
            <a:ext cx="274320" cy="274320"/>
          </a:xfrm>
          <a:prstGeom prst="oval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시각적 환각 ("8.5%" → "85%")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313432"/>
            <a:ext cx="274320" cy="274320"/>
          </a:xfrm>
          <a:prstGeom prst="oval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2951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공간 의미론적 왜곡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587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2734056"/>
            <a:ext cx="274320" cy="274320"/>
          </a:xfrm>
          <a:prstGeom prst="oval">
            <a:avLst/>
          </a:prstGeom>
          <a:solidFill>
            <a:srgbClr val="F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715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확신에 찬 오답 + 출처 달아서 전달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3840480" cy="192024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전략 (비용 0)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18745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캡슐화 + 면역 프롬프팅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후처리: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URL/이미지 태그 regex 제거 + JSON 강제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마크다운/JSON 문법 검증 → 실패 시 텍스트 폴백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필터링: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기반 저신뢰 블록 경고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22960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593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에지케이스 Taxonomy (9종)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858768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빈 이미지 → 엔트로피 체크 + VLM 스킵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복합 유형 → 주요 타입 처리 + 보조 metadata 보존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zip() cascade skip — 첫 쌍 불일치 → 전체 매칭 붕괴. greedy page-based matching으로 교체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저해상도/노이즈 → confidence 경고 + 원본 노출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인젝션 4유형 (Typographic / Steganographic / Adversarial / Multi-modal Jailbreak)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— Streamlit UI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2834640"/>
          </a:xfrm>
          <a:prstGeom prst="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학습노트 생성 화면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스크린샷 삽입 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2834640"/>
          </a:xfrm>
          <a:prstGeom prst="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41732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RAG Q&amp;A 채팅 화면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스크린샷 삽입 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발표 시 라이브 데모 or 스크린샷 교체 — PowerPoint에서 이미지 삽입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회고 &amp; 향후 계획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배운 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출력을 맹신하면 안 된다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전파 3단계를 직접 경험하고 방어 체계 구축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328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엔지니어링 ≠ 만능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340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→ v1.5.1까지 6번 반복, 아키텍처 변경이 더 효과적인 경우 다수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1912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없이는 개선 불가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924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배치 v1(15%)→v3(69%)→LLM judge(92%). 정량 평가가 반복을 이끔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849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실험은 정직해야 한다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0507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CU-16 리사이즈 실험: golden set이 소형 이미지라 비용 차이 0 → 더 큰 샘플 필요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393192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계획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12개 모델 × 10축 비교 실험 (진행 중)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추출 + backlink 그래프 시각화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아키텍처 전환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멀티소스 통합 노트 생성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 + MMR 검색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대시보드 고도화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oval">
            <a:avLst/>
          </a:prstGeom>
          <a:solidFill>
            <a:srgbClr val="E0F2F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oval">
            <a:avLst/>
          </a:prstGeom>
          <a:solidFill>
            <a:srgbClr val="DBEAFE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657600" y="2560320"/>
            <a:ext cx="18288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 v2 — 비정형 학습자료 자동 구조화 파이프라인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CatchUp v2 — 최종 발표</dc:title>
  <dc:subject>PptxGenJS Presentation</dc:subject>
  <dc:creator>Yuna</dc:creator>
  <cp:lastModifiedBy>Yuna</cp:lastModifiedBy>
  <cp:revision>1</cp:revision>
  <dcterms:created xsi:type="dcterms:W3CDTF">2026-03-16T19:24:26Z</dcterms:created>
  <dcterms:modified xsi:type="dcterms:W3CDTF">2026-03-16T19:24:26Z</dcterms:modified>
</cp:coreProperties>
</file>